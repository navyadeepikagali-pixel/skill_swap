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8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104F-2614-6F73-AD54-D54FB3F8E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3F6E9-72B1-7203-15D6-D3A6F05AF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4591E-0EA0-AE03-6471-E1DE59BCD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8822E-DFA5-2508-0372-65ACEFAE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42DDC-FFCD-D877-41FE-B4368146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5311-27BD-9981-D062-2F1F633D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8D9D-77F3-1C2C-EE8A-61FC98BCA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AA88F-198F-81C0-0CA9-06A37A311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C07B-BF6C-254E-5670-BFA6257A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1F01D-30DF-A347-2EA7-C2107B77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34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71E3-C684-C94A-C757-1C1306C4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A20AF-3C5F-EF0E-AAC5-45102DD62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AFD36-D3DC-33A5-9E01-780030ABD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ED7A6-84C3-C90A-9618-1A3DC2B2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CBA9F-C07E-7EC1-245A-1ACC74C4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37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966C6-EC57-2657-3B03-994741806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F0BA0-0958-1399-C8B6-C54759F11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2D951-02BF-39F4-09DE-ABB3145BC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0C9D4-1AB5-6FA6-28AA-4F863BF8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6CA6A-ED73-E661-FC6F-0ECB76765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17085-1B3E-CD60-EF4D-5D4ACCA3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37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1449F-60AA-EA33-1C80-BE4E9F112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612BF-5ACE-9E8B-67FB-DA7485528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54CC0-8A5B-67D8-2096-27C0AFFCC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5B02DD-9034-F0C4-6238-83081E428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CFEF4-88A8-4645-7D10-1E80593B7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81F01-B988-2A24-A18D-19CEA107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2E192-10E4-E450-94FC-B1A28579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C17AE4-7959-3BF0-0A57-2F4E965E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03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F95D-4E18-0BB7-CA16-921C2F75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A7C8F-0EAE-8D51-B931-71B2B1546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9D15B-E8AC-E4F6-4479-87C1BDD30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DE12C-469A-5D3B-961D-7DB909A5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75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BF4F73-3093-31A2-B0ED-2999A802E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8CD2D-D632-8CE3-38C8-B3F9982B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EE4F6-5177-E1A6-0D7B-3FC4BE1F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217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35E2-104C-902B-5048-53ADF2172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57DCB-60C9-54BB-54A7-F9287970D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34A70-798B-649A-F866-1D4810DAC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0CE26-3264-BE5D-9A87-74E2DC938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BC1F3-7378-901F-43F9-201FA3D35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8439B-0F13-EE33-F8E5-70768048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27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9E0D-A872-3BC1-DEAA-19D95382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424AD-EBE9-924E-F6A9-86248A723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FB1A6-D54D-407D-0F66-E53C173B5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D211F-3A21-7EAA-9251-0E9BA14B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C8463-19B9-0EF4-D2E1-0AC356FF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2377E-C54D-1E4E-C7D9-BF2457E6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9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34FED-4C73-E871-0F41-5495B3563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88F01-F477-17A6-07AB-4A1F63C72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D547F-7951-748C-A268-B6E1D5ED9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8197E-E02F-5A87-8FE3-55BA35FC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93B92-46D7-329C-EE5F-1D1135DC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5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CD416-94F7-81AC-EDE0-C1688E75A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B07FC-2A21-4DEA-4CDE-3993D2BF6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10100-C51C-40F0-3CA4-A0BA377F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AF78A-A2A9-2104-8023-00759D85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D6C4F-367C-BB15-2A70-AA6724A6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55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FBB75B-6DCF-BDCA-A1A7-4B254298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F7EAD-35B7-62BE-6DED-A09D91EEF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453FB-FED5-BA5A-56C7-97B0E2406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72E12-C617-4F14-BE18-52A5D5A67E2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23C28-D648-E4AA-88C4-3D26131E5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EE94E-218B-756E-C75F-C347A13A0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4384A-5499-4E67-8286-379EE9DAB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68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68704A-B8EA-7D81-ECEB-5CA33BF794AB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2AA13-F871-F060-713E-7A2395C3432A}"/>
              </a:ext>
            </a:extLst>
          </p:cNvPr>
          <p:cNvSpPr txBox="1"/>
          <p:nvPr/>
        </p:nvSpPr>
        <p:spPr>
          <a:xfrm>
            <a:off x="787400" y="736600"/>
            <a:ext cx="7620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4BDCB9"/>
                </a:solidFill>
                <a:latin typeface="Aptos" panose="020B0004020202020204" pitchFamily="34" charset="0"/>
              </a:rPr>
              <a:t>PEER-POWERED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F40C6-1F4C-6B1B-5E6A-2550A55C9F55}"/>
              </a:ext>
            </a:extLst>
          </p:cNvPr>
          <p:cNvSpPr txBox="1"/>
          <p:nvPr/>
        </p:nvSpPr>
        <p:spPr>
          <a:xfrm>
            <a:off x="787400" y="1422400"/>
            <a:ext cx="8382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5400" b="1">
                <a:solidFill>
                  <a:srgbClr val="F4F8FC"/>
                </a:solidFill>
                <a:latin typeface="Aptos" panose="020B0004020202020204" pitchFamily="34" charset="0"/>
              </a:rPr>
              <a:t>SKILL SWAP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2B589-4F1A-154D-2FD7-76C09FBC6526}"/>
              </a:ext>
            </a:extLst>
          </p:cNvPr>
          <p:cNvSpPr txBox="1"/>
          <p:nvPr/>
        </p:nvSpPr>
        <p:spPr>
          <a:xfrm>
            <a:off x="812800" y="2717800"/>
            <a:ext cx="7620000" cy="8617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800">
                <a:solidFill>
                  <a:srgbClr val="ADBECD"/>
                </a:solidFill>
                <a:latin typeface="Aptos" panose="020B0004020202020204" pitchFamily="34" charset="0"/>
              </a:rPr>
              <a:t>Learn together.
Grow together.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8B6FDA-ECD2-9F92-4363-0E7C65470B90}"/>
              </a:ext>
            </a:extLst>
          </p:cNvPr>
          <p:cNvSpPr txBox="1"/>
          <p:nvPr/>
        </p:nvSpPr>
        <p:spPr>
          <a:xfrm>
            <a:off x="812800" y="4216400"/>
            <a:ext cx="7747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900">
                <a:solidFill>
                  <a:srgbClr val="F4F8FC"/>
                </a:solidFill>
                <a:latin typeface="Aptos" panose="020B0004020202020204" pitchFamily="34" charset="0"/>
              </a:rPr>
              <a:t>A platform where people teach what they know and learn what they want.</a:t>
            </a:r>
            <a:endParaRPr lang="en-IN" sz="1900">
              <a:solidFill>
                <a:srgbClr val="F4F8FC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96B9D0-47E6-22ED-09F4-3B7BFCFE7E22}"/>
              </a:ext>
            </a:extLst>
          </p:cNvPr>
          <p:cNvSpPr/>
          <p:nvPr/>
        </p:nvSpPr>
        <p:spPr>
          <a:xfrm>
            <a:off x="9144000" y="1219200"/>
            <a:ext cx="2235200" cy="22352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E8276-6F8F-E119-C3CC-CCA07AEBAC54}"/>
              </a:ext>
            </a:extLst>
          </p:cNvPr>
          <p:cNvSpPr txBox="1"/>
          <p:nvPr/>
        </p:nvSpPr>
        <p:spPr>
          <a:xfrm>
            <a:off x="9474200" y="1600200"/>
            <a:ext cx="15748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2000" b="1">
                <a:solidFill>
                  <a:srgbClr val="4BDCB9"/>
                </a:solidFill>
                <a:latin typeface="Aptos" panose="020B0004020202020204" pitchFamily="34" charset="0"/>
              </a:rPr>
              <a:t>TEACH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BB18D6-D384-E91C-BEED-FC582949D95E}"/>
              </a:ext>
            </a:extLst>
          </p:cNvPr>
          <p:cNvSpPr txBox="1"/>
          <p:nvPr/>
        </p:nvSpPr>
        <p:spPr>
          <a:xfrm>
            <a:off x="9474200" y="2184400"/>
            <a:ext cx="1574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F4F8FC"/>
                </a:solidFill>
                <a:latin typeface="Aptos" panose="020B0004020202020204" pitchFamily="34" charset="0"/>
              </a:rPr>
              <a:t>&lt;&gt;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5AE8D4-C9EA-2CC3-EF41-33D03F89BB17}"/>
              </a:ext>
            </a:extLst>
          </p:cNvPr>
          <p:cNvSpPr txBox="1"/>
          <p:nvPr/>
        </p:nvSpPr>
        <p:spPr>
          <a:xfrm>
            <a:off x="9474200" y="2794000"/>
            <a:ext cx="15748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2000" b="1">
                <a:solidFill>
                  <a:srgbClr val="FFAF5C"/>
                </a:solidFill>
                <a:latin typeface="Aptos" panose="020B0004020202020204" pitchFamily="34" charset="0"/>
              </a:rPr>
              <a:t>LEARN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7678DD-6A24-3243-9CA1-928EB002ED0A}"/>
              </a:ext>
            </a:extLst>
          </p:cNvPr>
          <p:cNvSpPr txBox="1"/>
          <p:nvPr/>
        </p:nvSpPr>
        <p:spPr>
          <a:xfrm>
            <a:off x="812800" y="6223000"/>
            <a:ext cx="8636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ADBECD"/>
                </a:solidFill>
                <a:latin typeface="Aptos" panose="020B0004020202020204" pitchFamily="34" charset="0"/>
              </a:rPr>
              <a:t>FULL-STACK SKILL-EXCHANGE 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78BBA4-1B75-D50B-7494-282B95BBEFC3}"/>
              </a:ext>
            </a:extLst>
          </p:cNvPr>
          <p:cNvSpPr txBox="1"/>
          <p:nvPr/>
        </p:nvSpPr>
        <p:spPr>
          <a:xfrm>
            <a:off x="10566400" y="62230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1000">
                <a:solidFill>
                  <a:srgbClr val="ADBECD"/>
                </a:solidFill>
                <a:latin typeface="Aptos" panose="020B0004020202020204" pitchFamily="34" charset="0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2727391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F3910C-DC67-1838-F187-0F37B38A325E}"/>
              </a:ext>
            </a:extLst>
          </p:cNvPr>
          <p:cNvSpPr txBox="1"/>
          <p:nvPr/>
        </p:nvSpPr>
        <p:spPr>
          <a:xfrm>
            <a:off x="685800" y="406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4BDCB9"/>
                </a:solidFill>
                <a:latin typeface="Aptos" panose="020B0004020202020204" pitchFamily="34" charset="0"/>
              </a:rPr>
              <a:t>01  /  GOAL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DF519-EC28-489E-616C-F2C2675F9E75}"/>
              </a:ext>
            </a:extLst>
          </p:cNvPr>
          <p:cNvSpPr txBox="1"/>
          <p:nvPr/>
        </p:nvSpPr>
        <p:spPr>
          <a:xfrm>
            <a:off x="685800" y="7874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3000" b="1">
                <a:solidFill>
                  <a:srgbClr val="F4F8FC"/>
                </a:solidFill>
                <a:latin typeface="Aptos" panose="020B0004020202020204" pitchFamily="34" charset="0"/>
              </a:rPr>
              <a:t>The learning gap is access</a:t>
            </a:r>
            <a:endParaRPr lang="en-IN" sz="3000" b="1">
              <a:solidFill>
                <a:srgbClr val="F4F8FC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585B8F-0EA4-B04D-E7E4-0F96FDE6C0F7}"/>
              </a:ext>
            </a:extLst>
          </p:cNvPr>
          <p:cNvSpPr/>
          <p:nvPr/>
        </p:nvSpPr>
        <p:spPr>
          <a:xfrm>
            <a:off x="685800" y="1511300"/>
            <a:ext cx="685800" cy="508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63ED6-ED84-28BD-3DEF-925249F5B54A}"/>
              </a:ext>
            </a:extLst>
          </p:cNvPr>
          <p:cNvSpPr txBox="1"/>
          <p:nvPr/>
        </p:nvSpPr>
        <p:spPr>
          <a:xfrm>
            <a:off x="685800" y="64897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SKILL SWAP  |  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860AD-E290-53E3-CD76-DA4B9B045EF2}"/>
              </a:ext>
            </a:extLst>
          </p:cNvPr>
          <p:cNvSpPr txBox="1"/>
          <p:nvPr/>
        </p:nvSpPr>
        <p:spPr>
          <a:xfrm>
            <a:off x="10998200" y="64897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E228D-3A40-EC7F-7DAF-8D5319AC7814}"/>
              </a:ext>
            </a:extLst>
          </p:cNvPr>
          <p:cNvSpPr txBox="1"/>
          <p:nvPr/>
        </p:nvSpPr>
        <p:spPr>
          <a:xfrm>
            <a:off x="889000" y="19431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4BDCB9"/>
                </a:solidFill>
                <a:latin typeface="Aptos" panose="020B0004020202020204" pitchFamily="34" charset="0"/>
              </a:rPr>
              <a:t>PROBLEM +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25859-1977-5315-4E24-6557D5E7B26B}"/>
              </a:ext>
            </a:extLst>
          </p:cNvPr>
          <p:cNvSpPr txBox="1"/>
          <p:nvPr/>
        </p:nvSpPr>
        <p:spPr>
          <a:xfrm>
            <a:off x="889000" y="2463800"/>
            <a:ext cx="10414000" cy="16004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600" b="1">
                <a:solidFill>
                  <a:srgbClr val="F4F8FC"/>
                </a:solidFill>
                <a:latin typeface="Aptos" panose="020B0004020202020204" pitchFamily="34" charset="0"/>
              </a:rPr>
              <a:t>People who want to learn often struggle to find accessible, trusted peers. Skill Swap connects learners and tutors to exchange skills through profiles, discovery, chat, scheduling and credit-based sessions.</a:t>
            </a:r>
            <a:endParaRPr lang="en-IN" sz="2600" b="1">
              <a:solidFill>
                <a:srgbClr val="F4F8FC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7F9349-CC79-59A5-142C-7AD8827FEB63}"/>
              </a:ext>
            </a:extLst>
          </p:cNvPr>
          <p:cNvSpPr/>
          <p:nvPr/>
        </p:nvSpPr>
        <p:spPr>
          <a:xfrm>
            <a:off x="889000" y="4495800"/>
            <a:ext cx="10414000" cy="11938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51CDBE-4CA5-4F05-FFA9-9881CCF32DDA}"/>
              </a:ext>
            </a:extLst>
          </p:cNvPr>
          <p:cNvSpPr txBox="1"/>
          <p:nvPr/>
        </p:nvSpPr>
        <p:spPr>
          <a:xfrm>
            <a:off x="1193800" y="4749800"/>
            <a:ext cx="9779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900">
                <a:solidFill>
                  <a:srgbClr val="ADBECD"/>
                </a:solidFill>
                <a:latin typeface="Aptos" panose="020B0004020202020204" pitchFamily="34" charset="0"/>
              </a:rPr>
              <a:t>The core idea: everyone can be both a learner and a teacher.</a:t>
            </a:r>
            <a:endParaRPr lang="en-IN" sz="19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84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D29400-636F-EF24-CB0E-77EA095E23B4}"/>
              </a:ext>
            </a:extLst>
          </p:cNvPr>
          <p:cNvSpPr txBox="1"/>
          <p:nvPr/>
        </p:nvSpPr>
        <p:spPr>
          <a:xfrm>
            <a:off x="685800" y="406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4BDCB9"/>
                </a:solidFill>
                <a:latin typeface="Aptos" panose="020B0004020202020204" pitchFamily="34" charset="0"/>
              </a:rPr>
              <a:t>02  /  EXPERIENCE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7D06C-38BC-3E77-448D-6A2ED524CF3B}"/>
              </a:ext>
            </a:extLst>
          </p:cNvPr>
          <p:cNvSpPr txBox="1"/>
          <p:nvPr/>
        </p:nvSpPr>
        <p:spPr>
          <a:xfrm>
            <a:off x="685800" y="7874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3000" b="1">
                <a:solidFill>
                  <a:srgbClr val="F4F8FC"/>
                </a:solidFill>
                <a:latin typeface="Aptos" panose="020B0004020202020204" pitchFamily="34" charset="0"/>
              </a:rPr>
              <a:t>A simple learning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49163E-179B-E2DC-FAA1-1CD6275B960A}"/>
              </a:ext>
            </a:extLst>
          </p:cNvPr>
          <p:cNvSpPr/>
          <p:nvPr/>
        </p:nvSpPr>
        <p:spPr>
          <a:xfrm>
            <a:off x="685800" y="1511300"/>
            <a:ext cx="685800" cy="508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48499-C82D-BC2D-1676-AC77EBF4B8B3}"/>
              </a:ext>
            </a:extLst>
          </p:cNvPr>
          <p:cNvSpPr txBox="1"/>
          <p:nvPr/>
        </p:nvSpPr>
        <p:spPr>
          <a:xfrm>
            <a:off x="685800" y="64897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SKILL SWAP  |  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7E01C-42FF-292E-F918-34A4F3409874}"/>
              </a:ext>
            </a:extLst>
          </p:cNvPr>
          <p:cNvSpPr txBox="1"/>
          <p:nvPr/>
        </p:nvSpPr>
        <p:spPr>
          <a:xfrm>
            <a:off x="10998200" y="64897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B09179-26BD-4DFC-73C0-E64A2BDA4E85}"/>
              </a:ext>
            </a:extLst>
          </p:cNvPr>
          <p:cNvSpPr/>
          <p:nvPr/>
        </p:nvSpPr>
        <p:spPr>
          <a:xfrm>
            <a:off x="685800" y="2032000"/>
            <a:ext cx="2565400" cy="32004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C69C7D-730A-2A77-694A-B13EF06E3982}"/>
              </a:ext>
            </a:extLst>
          </p:cNvPr>
          <p:cNvSpPr/>
          <p:nvPr/>
        </p:nvSpPr>
        <p:spPr>
          <a:xfrm>
            <a:off x="914400" y="2260600"/>
            <a:ext cx="63500" cy="27432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B16A4-5A4C-D5EE-127F-466D008EEBAC}"/>
              </a:ext>
            </a:extLst>
          </p:cNvPr>
          <p:cNvSpPr txBox="1"/>
          <p:nvPr/>
        </p:nvSpPr>
        <p:spPr>
          <a:xfrm>
            <a:off x="1168400" y="2286000"/>
            <a:ext cx="18288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01  SHARE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3FAC5D-5079-3486-4809-3CF85D27CF77}"/>
              </a:ext>
            </a:extLst>
          </p:cNvPr>
          <p:cNvSpPr txBox="1"/>
          <p:nvPr/>
        </p:nvSpPr>
        <p:spPr>
          <a:xfrm>
            <a:off x="1168400" y="2768600"/>
            <a:ext cx="18288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Build a profile. Add skills you can teach and skills you want to learn.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144972-5A61-65F3-485D-EA645500BE6F}"/>
              </a:ext>
            </a:extLst>
          </p:cNvPr>
          <p:cNvSpPr/>
          <p:nvPr/>
        </p:nvSpPr>
        <p:spPr>
          <a:xfrm>
            <a:off x="3530600" y="2032000"/>
            <a:ext cx="2565400" cy="32004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649BBD-F0CF-EBF2-64DD-261098C913D1}"/>
              </a:ext>
            </a:extLst>
          </p:cNvPr>
          <p:cNvSpPr/>
          <p:nvPr/>
        </p:nvSpPr>
        <p:spPr>
          <a:xfrm>
            <a:off x="3759200" y="2260600"/>
            <a:ext cx="63500" cy="2743200"/>
          </a:xfrm>
          <a:prstGeom prst="rect">
            <a:avLst/>
          </a:prstGeom>
          <a:solidFill>
            <a:srgbClr val="56A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81528F-5586-2620-3056-2D4168E577CC}"/>
              </a:ext>
            </a:extLst>
          </p:cNvPr>
          <p:cNvSpPr txBox="1"/>
          <p:nvPr/>
        </p:nvSpPr>
        <p:spPr>
          <a:xfrm>
            <a:off x="4013200" y="2286000"/>
            <a:ext cx="18288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02  DISCOVER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7B161-CEB5-CB25-E937-412D7D2BF875}"/>
              </a:ext>
            </a:extLst>
          </p:cNvPr>
          <p:cNvSpPr txBox="1"/>
          <p:nvPr/>
        </p:nvSpPr>
        <p:spPr>
          <a:xfrm>
            <a:off x="4013200" y="2768600"/>
            <a:ext cx="18288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Find learning partners with filters for skill, level, language and availability.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BE3BBD-48D9-36B2-CA86-83C157B4FFD9}"/>
              </a:ext>
            </a:extLst>
          </p:cNvPr>
          <p:cNvSpPr/>
          <p:nvPr/>
        </p:nvSpPr>
        <p:spPr>
          <a:xfrm>
            <a:off x="6375400" y="2032000"/>
            <a:ext cx="2565400" cy="32004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0B1AEF-5C4D-1222-6C34-E4E6A3676663}"/>
              </a:ext>
            </a:extLst>
          </p:cNvPr>
          <p:cNvSpPr/>
          <p:nvPr/>
        </p:nvSpPr>
        <p:spPr>
          <a:xfrm>
            <a:off x="6604000" y="2260600"/>
            <a:ext cx="63500" cy="2743200"/>
          </a:xfrm>
          <a:prstGeom prst="rect">
            <a:avLst/>
          </a:prstGeom>
          <a:solidFill>
            <a:srgbClr val="FFA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FAA866-3348-BB89-1417-47CC7B4BAA8F}"/>
              </a:ext>
            </a:extLst>
          </p:cNvPr>
          <p:cNvSpPr txBox="1"/>
          <p:nvPr/>
        </p:nvSpPr>
        <p:spPr>
          <a:xfrm>
            <a:off x="6858000" y="2286000"/>
            <a:ext cx="18288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03  CONNECT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6684A0-AA70-9992-D4AD-A8AC66319280}"/>
              </a:ext>
            </a:extLst>
          </p:cNvPr>
          <p:cNvSpPr txBox="1"/>
          <p:nvPr/>
        </p:nvSpPr>
        <p:spPr>
          <a:xfrm>
            <a:off x="6858000" y="2768600"/>
            <a:ext cx="18288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Send a request, build a connection and continue the conversation in chat.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0E6C77-A98C-B712-599B-934DA5CC4838}"/>
              </a:ext>
            </a:extLst>
          </p:cNvPr>
          <p:cNvSpPr/>
          <p:nvPr/>
        </p:nvSpPr>
        <p:spPr>
          <a:xfrm>
            <a:off x="9220200" y="2032000"/>
            <a:ext cx="2286000" cy="32004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0A1E58-C055-7D5F-BD7F-FE8AFC18DFA1}"/>
              </a:ext>
            </a:extLst>
          </p:cNvPr>
          <p:cNvSpPr/>
          <p:nvPr/>
        </p:nvSpPr>
        <p:spPr>
          <a:xfrm>
            <a:off x="9448800" y="2260600"/>
            <a:ext cx="63500" cy="2743200"/>
          </a:xfrm>
          <a:prstGeom prst="rect">
            <a:avLst/>
          </a:prstGeom>
          <a:solidFill>
            <a:srgbClr val="AF9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8A1529-BBA6-12CC-F085-5DA63C6A3C6B}"/>
              </a:ext>
            </a:extLst>
          </p:cNvPr>
          <p:cNvSpPr txBox="1"/>
          <p:nvPr/>
        </p:nvSpPr>
        <p:spPr>
          <a:xfrm>
            <a:off x="9702800" y="2286000"/>
            <a:ext cx="1549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04  SWAP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0ED824-1D26-B09F-9460-55DF59135EE2}"/>
              </a:ext>
            </a:extLst>
          </p:cNvPr>
          <p:cNvSpPr txBox="1"/>
          <p:nvPr/>
        </p:nvSpPr>
        <p:spPr>
          <a:xfrm>
            <a:off x="9702800" y="2768600"/>
            <a:ext cx="1549400" cy="11541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Schedule a session, learn together, confirm completion and exchange credits.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29540E-91A6-B4FB-EF61-38898DC29193}"/>
              </a:ext>
            </a:extLst>
          </p:cNvPr>
          <p:cNvSpPr txBox="1"/>
          <p:nvPr/>
        </p:nvSpPr>
        <p:spPr>
          <a:xfrm>
            <a:off x="863600" y="5562600"/>
            <a:ext cx="104648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700">
                <a:solidFill>
                  <a:srgbClr val="ADBECD"/>
                </a:solidFill>
                <a:latin typeface="Aptos" panose="020B0004020202020204" pitchFamily="34" charset="0"/>
              </a:rPr>
              <a:t>One community. Two-way learning. Progress built through sharing.</a:t>
            </a:r>
            <a:endParaRPr lang="en-IN" sz="17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952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AE912-C9C8-342D-8E47-9040A17806BB}"/>
              </a:ext>
            </a:extLst>
          </p:cNvPr>
          <p:cNvSpPr txBox="1"/>
          <p:nvPr/>
        </p:nvSpPr>
        <p:spPr>
          <a:xfrm>
            <a:off x="685800" y="406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4BDCB9"/>
                </a:solidFill>
                <a:latin typeface="Aptos" panose="020B0004020202020204" pitchFamily="34" charset="0"/>
              </a:rPr>
              <a:t>03  / 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CDD1E-F5BC-1DBA-F3D7-02661F0C9647}"/>
              </a:ext>
            </a:extLst>
          </p:cNvPr>
          <p:cNvSpPr txBox="1"/>
          <p:nvPr/>
        </p:nvSpPr>
        <p:spPr>
          <a:xfrm>
            <a:off x="685800" y="7874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3000" b="1">
                <a:solidFill>
                  <a:srgbClr val="F4F8FC"/>
                </a:solidFill>
                <a:latin typeface="Aptos" panose="020B0004020202020204" pitchFamily="34" charset="0"/>
              </a:rPr>
              <a:t>Scope &amp; key deliverables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8144C-16FB-C818-C529-004FBDC60B57}"/>
              </a:ext>
            </a:extLst>
          </p:cNvPr>
          <p:cNvSpPr/>
          <p:nvPr/>
        </p:nvSpPr>
        <p:spPr>
          <a:xfrm>
            <a:off x="685800" y="1511300"/>
            <a:ext cx="685800" cy="508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D07EF-C2BB-C63E-268D-0823FAA16932}"/>
              </a:ext>
            </a:extLst>
          </p:cNvPr>
          <p:cNvSpPr txBox="1"/>
          <p:nvPr/>
        </p:nvSpPr>
        <p:spPr>
          <a:xfrm>
            <a:off x="685800" y="64897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SKILL SWAP  |  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2347B-EF91-6C5A-58FF-483165165C11}"/>
              </a:ext>
            </a:extLst>
          </p:cNvPr>
          <p:cNvSpPr txBox="1"/>
          <p:nvPr/>
        </p:nvSpPr>
        <p:spPr>
          <a:xfrm>
            <a:off x="10998200" y="64897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403AA5-C6CF-9DB5-A906-CD5A0B3BD279}"/>
              </a:ext>
            </a:extLst>
          </p:cNvPr>
          <p:cNvSpPr/>
          <p:nvPr/>
        </p:nvSpPr>
        <p:spPr>
          <a:xfrm>
            <a:off x="685800" y="1854200"/>
            <a:ext cx="5207000" cy="19939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7096BC-7985-7EA8-CF39-4AC6AE0A97B5}"/>
              </a:ext>
            </a:extLst>
          </p:cNvPr>
          <p:cNvSpPr/>
          <p:nvPr/>
        </p:nvSpPr>
        <p:spPr>
          <a:xfrm>
            <a:off x="914400" y="2082800"/>
            <a:ext cx="63500" cy="15367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CE241-77F0-3E38-FA7D-48B1DA326630}"/>
              </a:ext>
            </a:extLst>
          </p:cNvPr>
          <p:cNvSpPr txBox="1"/>
          <p:nvPr/>
        </p:nvSpPr>
        <p:spPr>
          <a:xfrm>
            <a:off x="1168400" y="2108200"/>
            <a:ext cx="4470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Profiles &amp; skill catalog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D306F6-1CB8-19DA-18C8-1C3B8853A0D1}"/>
              </a:ext>
            </a:extLst>
          </p:cNvPr>
          <p:cNvSpPr txBox="1"/>
          <p:nvPr/>
        </p:nvSpPr>
        <p:spPr>
          <a:xfrm>
            <a:off x="1168400" y="2590800"/>
            <a:ext cx="447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Editable profiles, categorized skills, teach/learn lists, and moderated skill suggestions.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91FAAC-6892-8DF1-8DAF-3FD1875EB8CD}"/>
              </a:ext>
            </a:extLst>
          </p:cNvPr>
          <p:cNvSpPr/>
          <p:nvPr/>
        </p:nvSpPr>
        <p:spPr>
          <a:xfrm>
            <a:off x="6299200" y="1854200"/>
            <a:ext cx="5207000" cy="19939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9474D8-DDF4-1357-E24C-56AAD5631558}"/>
              </a:ext>
            </a:extLst>
          </p:cNvPr>
          <p:cNvSpPr/>
          <p:nvPr/>
        </p:nvSpPr>
        <p:spPr>
          <a:xfrm>
            <a:off x="6527800" y="2082800"/>
            <a:ext cx="63500" cy="1536700"/>
          </a:xfrm>
          <a:prstGeom prst="rect">
            <a:avLst/>
          </a:prstGeom>
          <a:solidFill>
            <a:srgbClr val="56A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DF5547-1D3D-F44A-23B2-C7C2131A2116}"/>
              </a:ext>
            </a:extLst>
          </p:cNvPr>
          <p:cNvSpPr txBox="1"/>
          <p:nvPr/>
        </p:nvSpPr>
        <p:spPr>
          <a:xfrm>
            <a:off x="6781800" y="2108200"/>
            <a:ext cx="4470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Discovery &amp; communication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9AED18-490A-2B0A-C4E9-5211B684DF78}"/>
              </a:ext>
            </a:extLst>
          </p:cNvPr>
          <p:cNvSpPr txBox="1"/>
          <p:nvPr/>
        </p:nvSpPr>
        <p:spPr>
          <a:xfrm>
            <a:off x="6781800" y="2590800"/>
            <a:ext cx="447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Filtered tutor search, connection requests, persistent chat, live messages and notifications.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37E68C0-55B2-004E-1287-C609AF81F885}"/>
              </a:ext>
            </a:extLst>
          </p:cNvPr>
          <p:cNvSpPr/>
          <p:nvPr/>
        </p:nvSpPr>
        <p:spPr>
          <a:xfrm>
            <a:off x="685800" y="4140200"/>
            <a:ext cx="5207000" cy="19939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1E2B92-EA83-C96D-2292-E8A7BA677663}"/>
              </a:ext>
            </a:extLst>
          </p:cNvPr>
          <p:cNvSpPr/>
          <p:nvPr/>
        </p:nvSpPr>
        <p:spPr>
          <a:xfrm>
            <a:off x="914400" y="4368800"/>
            <a:ext cx="63500" cy="1536700"/>
          </a:xfrm>
          <a:prstGeom prst="rect">
            <a:avLst/>
          </a:prstGeom>
          <a:solidFill>
            <a:srgbClr val="FFA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F06C8A-8660-0599-CB5E-4A96482F9F63}"/>
              </a:ext>
            </a:extLst>
          </p:cNvPr>
          <p:cNvSpPr txBox="1"/>
          <p:nvPr/>
        </p:nvSpPr>
        <p:spPr>
          <a:xfrm>
            <a:off x="1168400" y="4394200"/>
            <a:ext cx="4470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Sessions &amp; trust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59CBF7-8B9F-849D-4889-C9EC2A02C091}"/>
              </a:ext>
            </a:extLst>
          </p:cNvPr>
          <p:cNvSpPr txBox="1"/>
          <p:nvPr/>
        </p:nvSpPr>
        <p:spPr>
          <a:xfrm>
            <a:off x="1168400" y="4876800"/>
            <a:ext cx="447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Availability, timezone-aware scheduling, session lifecycle, reviews and dispute handling.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E5035C9-FAAC-6C53-036D-E67A80318E3D}"/>
              </a:ext>
            </a:extLst>
          </p:cNvPr>
          <p:cNvSpPr/>
          <p:nvPr/>
        </p:nvSpPr>
        <p:spPr>
          <a:xfrm>
            <a:off x="6299200" y="4140200"/>
            <a:ext cx="5207000" cy="19939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B9B3CE-6E1D-696C-A480-12DD486347B1}"/>
              </a:ext>
            </a:extLst>
          </p:cNvPr>
          <p:cNvSpPr/>
          <p:nvPr/>
        </p:nvSpPr>
        <p:spPr>
          <a:xfrm>
            <a:off x="6527800" y="4368800"/>
            <a:ext cx="63500" cy="1536700"/>
          </a:xfrm>
          <a:prstGeom prst="rect">
            <a:avLst/>
          </a:prstGeom>
          <a:solidFill>
            <a:srgbClr val="AF9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D1304A-5F27-9451-D194-9105083694BE}"/>
              </a:ext>
            </a:extLst>
          </p:cNvPr>
          <p:cNvSpPr txBox="1"/>
          <p:nvPr/>
        </p:nvSpPr>
        <p:spPr>
          <a:xfrm>
            <a:off x="6781800" y="4394200"/>
            <a:ext cx="4470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Credits &amp; administration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DEEA18-A2D1-50FC-7531-5F2F58897002}"/>
              </a:ext>
            </a:extLst>
          </p:cNvPr>
          <p:cNvSpPr txBox="1"/>
          <p:nvPr/>
        </p:nvSpPr>
        <p:spPr>
          <a:xfrm>
            <a:off x="6781800" y="4876800"/>
            <a:ext cx="447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Wallet ledger, completion-based settlement, usage limits, plans, and admin oversight.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318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C5B0A3-5574-E1C6-5097-D6F60D4AF37A}"/>
              </a:ext>
            </a:extLst>
          </p:cNvPr>
          <p:cNvSpPr txBox="1"/>
          <p:nvPr/>
        </p:nvSpPr>
        <p:spPr>
          <a:xfrm>
            <a:off x="685800" y="406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4BDCB9"/>
                </a:solidFill>
                <a:latin typeface="Aptos" panose="020B0004020202020204" pitchFamily="34" charset="0"/>
              </a:rPr>
              <a:t>04  /  BUILD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A052-F256-268E-129A-8AAF68E91D2D}"/>
              </a:ext>
            </a:extLst>
          </p:cNvPr>
          <p:cNvSpPr txBox="1"/>
          <p:nvPr/>
        </p:nvSpPr>
        <p:spPr>
          <a:xfrm>
            <a:off x="685800" y="7874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3000" b="1">
                <a:solidFill>
                  <a:srgbClr val="F4F8FC"/>
                </a:solidFill>
                <a:latin typeface="Aptos" panose="020B0004020202020204" pitchFamily="34" charset="0"/>
              </a:rPr>
              <a:t>A full-stack 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B3BEF0-1DC6-583B-7C74-48E5F7899BF3}"/>
              </a:ext>
            </a:extLst>
          </p:cNvPr>
          <p:cNvSpPr/>
          <p:nvPr/>
        </p:nvSpPr>
        <p:spPr>
          <a:xfrm>
            <a:off x="685800" y="1511300"/>
            <a:ext cx="685800" cy="508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E04AE-63E7-278E-89FD-5AF539781F86}"/>
              </a:ext>
            </a:extLst>
          </p:cNvPr>
          <p:cNvSpPr txBox="1"/>
          <p:nvPr/>
        </p:nvSpPr>
        <p:spPr>
          <a:xfrm>
            <a:off x="685800" y="64897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SKILL SWAP  |  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94280-378E-42FE-99A0-6A1B328C5EAA}"/>
              </a:ext>
            </a:extLst>
          </p:cNvPr>
          <p:cNvSpPr txBox="1"/>
          <p:nvPr/>
        </p:nvSpPr>
        <p:spPr>
          <a:xfrm>
            <a:off x="10998200" y="64897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8E53BF-67F8-6E8A-0B04-9EBC835C63A7}"/>
              </a:ext>
            </a:extLst>
          </p:cNvPr>
          <p:cNvSpPr/>
          <p:nvPr/>
        </p:nvSpPr>
        <p:spPr>
          <a:xfrm>
            <a:off x="685800" y="2006600"/>
            <a:ext cx="2514600" cy="29210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AA53E8-9516-73BA-E86D-617B77969CCE}"/>
              </a:ext>
            </a:extLst>
          </p:cNvPr>
          <p:cNvSpPr/>
          <p:nvPr/>
        </p:nvSpPr>
        <p:spPr>
          <a:xfrm>
            <a:off x="914400" y="2235200"/>
            <a:ext cx="63500" cy="24638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DE87F-B7FB-6328-2EE9-43EC0056F209}"/>
              </a:ext>
            </a:extLst>
          </p:cNvPr>
          <p:cNvSpPr txBox="1"/>
          <p:nvPr/>
        </p:nvSpPr>
        <p:spPr>
          <a:xfrm>
            <a:off x="1168400" y="2260600"/>
            <a:ext cx="1778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B83C3-E203-626A-A4D0-1965CF77377A}"/>
              </a:ext>
            </a:extLst>
          </p:cNvPr>
          <p:cNvSpPr txBox="1"/>
          <p:nvPr/>
        </p:nvSpPr>
        <p:spPr>
          <a:xfrm>
            <a:off x="1168400" y="2743200"/>
            <a:ext cx="1778000" cy="11541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500">
                <a:solidFill>
                  <a:srgbClr val="ADBECD"/>
                </a:solidFill>
                <a:latin typeface="Aptos" panose="020B0004020202020204" pitchFamily="34" charset="0"/>
              </a:rPr>
              <a:t>React 18
Vite
React Router
Axios
Socket.IO client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1D2BFA-DA20-2A5E-A058-B989CD493A4A}"/>
              </a:ext>
            </a:extLst>
          </p:cNvPr>
          <p:cNvSpPr/>
          <p:nvPr/>
        </p:nvSpPr>
        <p:spPr>
          <a:xfrm>
            <a:off x="3530600" y="2006600"/>
            <a:ext cx="2514600" cy="29210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CE3314-2BF7-FA13-DDA3-C64165E451D8}"/>
              </a:ext>
            </a:extLst>
          </p:cNvPr>
          <p:cNvSpPr/>
          <p:nvPr/>
        </p:nvSpPr>
        <p:spPr>
          <a:xfrm>
            <a:off x="3759200" y="2235200"/>
            <a:ext cx="63500" cy="2463800"/>
          </a:xfrm>
          <a:prstGeom prst="rect">
            <a:avLst/>
          </a:prstGeom>
          <a:solidFill>
            <a:srgbClr val="56A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05F35B-6300-607D-3A0F-1BD81C3C6A6C}"/>
              </a:ext>
            </a:extLst>
          </p:cNvPr>
          <p:cNvSpPr txBox="1"/>
          <p:nvPr/>
        </p:nvSpPr>
        <p:spPr>
          <a:xfrm>
            <a:off x="4013200" y="2260600"/>
            <a:ext cx="1778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API &amp; SERVICES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274507-B9B3-9CCE-4732-5E38030D1DDD}"/>
              </a:ext>
            </a:extLst>
          </p:cNvPr>
          <p:cNvSpPr txBox="1"/>
          <p:nvPr/>
        </p:nvSpPr>
        <p:spPr>
          <a:xfrm>
            <a:off x="4013200" y="2743200"/>
            <a:ext cx="17780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Node.js
Express
Authentication
Scheduling
Wallet &amp; usage services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CBA98FF-A56F-5C9C-28AA-05B0980CFE40}"/>
              </a:ext>
            </a:extLst>
          </p:cNvPr>
          <p:cNvSpPr/>
          <p:nvPr/>
        </p:nvSpPr>
        <p:spPr>
          <a:xfrm>
            <a:off x="6375400" y="2006600"/>
            <a:ext cx="2514600" cy="29210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F9EBBF-8219-4E64-B34D-27301A94C00E}"/>
              </a:ext>
            </a:extLst>
          </p:cNvPr>
          <p:cNvSpPr/>
          <p:nvPr/>
        </p:nvSpPr>
        <p:spPr>
          <a:xfrm>
            <a:off x="6604000" y="2235200"/>
            <a:ext cx="63500" cy="2463800"/>
          </a:xfrm>
          <a:prstGeom prst="rect">
            <a:avLst/>
          </a:prstGeom>
          <a:solidFill>
            <a:srgbClr val="FFA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9F73D5-FD51-3725-7AE0-F276104E9981}"/>
              </a:ext>
            </a:extLst>
          </p:cNvPr>
          <p:cNvSpPr txBox="1"/>
          <p:nvPr/>
        </p:nvSpPr>
        <p:spPr>
          <a:xfrm>
            <a:off x="6858000" y="2260600"/>
            <a:ext cx="1778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3E2915-4409-B89A-E781-87633E6A3EDE}"/>
              </a:ext>
            </a:extLst>
          </p:cNvPr>
          <p:cNvSpPr txBox="1"/>
          <p:nvPr/>
        </p:nvSpPr>
        <p:spPr>
          <a:xfrm>
            <a:off x="6858000" y="2743200"/>
            <a:ext cx="17780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MongoDB
Mongoose
Domain models
Indexes
Transaction-backed flows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3D823E8-BAD5-E5F8-0755-AA28EFE86706}"/>
              </a:ext>
            </a:extLst>
          </p:cNvPr>
          <p:cNvSpPr/>
          <p:nvPr/>
        </p:nvSpPr>
        <p:spPr>
          <a:xfrm>
            <a:off x="9220200" y="2006600"/>
            <a:ext cx="2286000" cy="29210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E3377-2C75-710F-8C32-8AE02DFFD739}"/>
              </a:ext>
            </a:extLst>
          </p:cNvPr>
          <p:cNvSpPr/>
          <p:nvPr/>
        </p:nvSpPr>
        <p:spPr>
          <a:xfrm>
            <a:off x="9448800" y="2235200"/>
            <a:ext cx="63500" cy="2463800"/>
          </a:xfrm>
          <a:prstGeom prst="rect">
            <a:avLst/>
          </a:prstGeom>
          <a:solidFill>
            <a:srgbClr val="AF9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CEC298-E887-B88C-F591-E6BB7E791F98}"/>
              </a:ext>
            </a:extLst>
          </p:cNvPr>
          <p:cNvSpPr txBox="1"/>
          <p:nvPr/>
        </p:nvSpPr>
        <p:spPr>
          <a:xfrm>
            <a:off x="9702800" y="2260600"/>
            <a:ext cx="1549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REAL TIME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4FCCC2-704F-AC80-071A-F9C71E5A75D7}"/>
              </a:ext>
            </a:extLst>
          </p:cNvPr>
          <p:cNvSpPr txBox="1"/>
          <p:nvPr/>
        </p:nvSpPr>
        <p:spPr>
          <a:xfrm>
            <a:off x="9702800" y="2743200"/>
            <a:ext cx="15494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Socket.IO
Authenticated rooms
Messages
Notifications
Presence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A3080B-662B-5189-5481-6E978003B4E5}"/>
              </a:ext>
            </a:extLst>
          </p:cNvPr>
          <p:cNvSpPr txBox="1"/>
          <p:nvPr/>
        </p:nvSpPr>
        <p:spPr>
          <a:xfrm>
            <a:off x="889000" y="53340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700">
                <a:solidFill>
                  <a:srgbClr val="ADBECD"/>
                </a:solidFill>
                <a:latin typeface="Aptos" panose="020B0004020202020204" pitchFamily="34" charset="0"/>
              </a:rPr>
              <a:t>Secure cookies, role checks, idempotency, and participant authorization support reliable everyday flows.</a:t>
            </a:r>
            <a:endParaRPr lang="en-IN" sz="17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55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5DB719-6780-A5C3-0F8F-DA06EE1C4ED3}"/>
              </a:ext>
            </a:extLst>
          </p:cNvPr>
          <p:cNvSpPr txBox="1"/>
          <p:nvPr/>
        </p:nvSpPr>
        <p:spPr>
          <a:xfrm>
            <a:off x="685800" y="406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4BDCB9"/>
                </a:solidFill>
                <a:latin typeface="Aptos" panose="020B0004020202020204" pitchFamily="34" charset="0"/>
              </a:rPr>
              <a:t>05  / 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00794-458C-9EC4-EF97-B08C9193DB2B}"/>
              </a:ext>
            </a:extLst>
          </p:cNvPr>
          <p:cNvSpPr txBox="1"/>
          <p:nvPr/>
        </p:nvSpPr>
        <p:spPr>
          <a:xfrm>
            <a:off x="685800" y="7874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3000" b="1">
                <a:solidFill>
                  <a:srgbClr val="F4F8FC"/>
                </a:solidFill>
                <a:latin typeface="Aptos" panose="020B0004020202020204" pitchFamily="34" charset="0"/>
              </a:rPr>
              <a:t>Challenges solved in the product</a:t>
            </a:r>
            <a:endParaRPr lang="en-IN" sz="3000" b="1">
              <a:solidFill>
                <a:srgbClr val="F4F8FC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2CC9F3-2BA2-9B52-62FB-1F90682F7F59}"/>
              </a:ext>
            </a:extLst>
          </p:cNvPr>
          <p:cNvSpPr/>
          <p:nvPr/>
        </p:nvSpPr>
        <p:spPr>
          <a:xfrm>
            <a:off x="685800" y="1511300"/>
            <a:ext cx="685800" cy="508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0F089-B5DC-372C-35BA-CB07350B81AD}"/>
              </a:ext>
            </a:extLst>
          </p:cNvPr>
          <p:cNvSpPr txBox="1"/>
          <p:nvPr/>
        </p:nvSpPr>
        <p:spPr>
          <a:xfrm>
            <a:off x="685800" y="64897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SKILL SWAP  |  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6D215-13EF-C43E-D5CA-ED24C9D75B15}"/>
              </a:ext>
            </a:extLst>
          </p:cNvPr>
          <p:cNvSpPr txBox="1"/>
          <p:nvPr/>
        </p:nvSpPr>
        <p:spPr>
          <a:xfrm>
            <a:off x="10998200" y="64897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4294A5-2887-08FD-982C-79F94CAE9B47}"/>
              </a:ext>
            </a:extLst>
          </p:cNvPr>
          <p:cNvSpPr/>
          <p:nvPr/>
        </p:nvSpPr>
        <p:spPr>
          <a:xfrm>
            <a:off x="685800" y="1905000"/>
            <a:ext cx="5207000" cy="19558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265822-88DD-6CEB-C26C-03074FF1DBC0}"/>
              </a:ext>
            </a:extLst>
          </p:cNvPr>
          <p:cNvSpPr/>
          <p:nvPr/>
        </p:nvSpPr>
        <p:spPr>
          <a:xfrm>
            <a:off x="914400" y="2133600"/>
            <a:ext cx="63500" cy="14986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473707-1AA1-648F-F869-65DA93ED8BC8}"/>
              </a:ext>
            </a:extLst>
          </p:cNvPr>
          <p:cNvSpPr txBox="1"/>
          <p:nvPr/>
        </p:nvSpPr>
        <p:spPr>
          <a:xfrm>
            <a:off x="1168400" y="2159000"/>
            <a:ext cx="4470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Reliable credit settlement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1AC0EE-3CD6-0B67-81B8-04AE4658FA3D}"/>
              </a:ext>
            </a:extLst>
          </p:cNvPr>
          <p:cNvSpPr txBox="1"/>
          <p:nvPr/>
        </p:nvSpPr>
        <p:spPr>
          <a:xfrm>
            <a:off x="1168400" y="2641600"/>
            <a:ext cx="447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Transactions and idempotent actions help prevent duplicate or partial transfers.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E22BCE6-5D3D-619E-0D18-45F7DC426ED6}"/>
              </a:ext>
            </a:extLst>
          </p:cNvPr>
          <p:cNvSpPr/>
          <p:nvPr/>
        </p:nvSpPr>
        <p:spPr>
          <a:xfrm>
            <a:off x="6299200" y="1905000"/>
            <a:ext cx="5207000" cy="19558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5216B1-707A-E3C8-8BE5-27AAA1CBDF47}"/>
              </a:ext>
            </a:extLst>
          </p:cNvPr>
          <p:cNvSpPr/>
          <p:nvPr/>
        </p:nvSpPr>
        <p:spPr>
          <a:xfrm>
            <a:off x="6527800" y="2133600"/>
            <a:ext cx="63500" cy="1498600"/>
          </a:xfrm>
          <a:prstGeom prst="rect">
            <a:avLst/>
          </a:prstGeom>
          <a:solidFill>
            <a:srgbClr val="56A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D4341-5724-D6E2-97D7-018243730AB2}"/>
              </a:ext>
            </a:extLst>
          </p:cNvPr>
          <p:cNvSpPr txBox="1"/>
          <p:nvPr/>
        </p:nvSpPr>
        <p:spPr>
          <a:xfrm>
            <a:off x="6781800" y="2159000"/>
            <a:ext cx="4470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Scheduling across time zones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7A017B-BC02-21C8-070A-2D00473E80C3}"/>
              </a:ext>
            </a:extLst>
          </p:cNvPr>
          <p:cNvSpPr txBox="1"/>
          <p:nvPr/>
        </p:nvSpPr>
        <p:spPr>
          <a:xfrm>
            <a:off x="6781800" y="2641600"/>
            <a:ext cx="447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Store a clear instant and timezone; check availability and overlapping bookings.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6A579C-3693-397E-02FD-07B270A7D946}"/>
              </a:ext>
            </a:extLst>
          </p:cNvPr>
          <p:cNvSpPr/>
          <p:nvPr/>
        </p:nvSpPr>
        <p:spPr>
          <a:xfrm>
            <a:off x="685800" y="4191000"/>
            <a:ext cx="5207000" cy="19558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EF108-50A0-6741-7523-C3F4BA5210AC}"/>
              </a:ext>
            </a:extLst>
          </p:cNvPr>
          <p:cNvSpPr/>
          <p:nvPr/>
        </p:nvSpPr>
        <p:spPr>
          <a:xfrm>
            <a:off x="914400" y="4419600"/>
            <a:ext cx="63500" cy="1498600"/>
          </a:xfrm>
          <a:prstGeom prst="rect">
            <a:avLst/>
          </a:prstGeom>
          <a:solidFill>
            <a:srgbClr val="FFA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B9EA46-2D24-0773-395E-37377A71AEDF}"/>
              </a:ext>
            </a:extLst>
          </p:cNvPr>
          <p:cNvSpPr txBox="1"/>
          <p:nvPr/>
        </p:nvSpPr>
        <p:spPr>
          <a:xfrm>
            <a:off x="1168400" y="4445000"/>
            <a:ext cx="4470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Private, real-time conversations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F2B15B-F862-B581-B4F2-B497A9D5FE9F}"/>
              </a:ext>
            </a:extLst>
          </p:cNvPr>
          <p:cNvSpPr txBox="1"/>
          <p:nvPr/>
        </p:nvSpPr>
        <p:spPr>
          <a:xfrm>
            <a:off x="1168400" y="4927600"/>
            <a:ext cx="447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Authenticate sockets and authorize room access against conversation participants.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8EA4F1A-3923-643A-FCE3-0FF8552C3A30}"/>
              </a:ext>
            </a:extLst>
          </p:cNvPr>
          <p:cNvSpPr/>
          <p:nvPr/>
        </p:nvSpPr>
        <p:spPr>
          <a:xfrm>
            <a:off x="6299200" y="4191000"/>
            <a:ext cx="5207000" cy="19558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93EC12-D6A3-D831-6683-C6907D63A31D}"/>
              </a:ext>
            </a:extLst>
          </p:cNvPr>
          <p:cNvSpPr/>
          <p:nvPr/>
        </p:nvSpPr>
        <p:spPr>
          <a:xfrm>
            <a:off x="6527800" y="4419600"/>
            <a:ext cx="63500" cy="1498600"/>
          </a:xfrm>
          <a:prstGeom prst="rect">
            <a:avLst/>
          </a:prstGeom>
          <a:solidFill>
            <a:srgbClr val="AF9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E84694-2266-7469-523C-AD628789A226}"/>
              </a:ext>
            </a:extLst>
          </p:cNvPr>
          <p:cNvSpPr txBox="1"/>
          <p:nvPr/>
        </p:nvSpPr>
        <p:spPr>
          <a:xfrm>
            <a:off x="6781800" y="4445000"/>
            <a:ext cx="4470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Trust and payment clarity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D1028F-0CF3-AC7E-729D-7CD09B672401}"/>
              </a:ext>
            </a:extLst>
          </p:cNvPr>
          <p:cNvSpPr txBox="1"/>
          <p:nvPr/>
        </p:nvSpPr>
        <p:spPr>
          <a:xfrm>
            <a:off x="6781800" y="4927600"/>
            <a:ext cx="447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Use verified auth and admin controls; demo checkout is explicitly unpaid without a provider.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27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32FE25-37C3-D0D7-6C38-3B110937C13C}"/>
              </a:ext>
            </a:extLst>
          </p:cNvPr>
          <p:cNvSpPr txBox="1"/>
          <p:nvPr/>
        </p:nvSpPr>
        <p:spPr>
          <a:xfrm>
            <a:off x="685800" y="406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4BDCB9"/>
                </a:solidFill>
                <a:latin typeface="Aptos" panose="020B0004020202020204" pitchFamily="34" charset="0"/>
              </a:rPr>
              <a:t>06  /  OUTCOME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025055-B5EE-44F5-243C-734455254F74}"/>
              </a:ext>
            </a:extLst>
          </p:cNvPr>
          <p:cNvSpPr txBox="1"/>
          <p:nvPr/>
        </p:nvSpPr>
        <p:spPr>
          <a:xfrm>
            <a:off x="685800" y="7874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3000" b="1">
                <a:solidFill>
                  <a:srgbClr val="F4F8FC"/>
                </a:solidFill>
                <a:latin typeface="Aptos" panose="020B0004020202020204" pitchFamily="34" charset="0"/>
              </a:rPr>
              <a:t>Learning becomes a two-way exchange</a:t>
            </a:r>
            <a:endParaRPr lang="en-IN" sz="3000" b="1">
              <a:solidFill>
                <a:srgbClr val="F4F8FC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DD96BC-4711-F344-B670-65C57451AA2D}"/>
              </a:ext>
            </a:extLst>
          </p:cNvPr>
          <p:cNvSpPr/>
          <p:nvPr/>
        </p:nvSpPr>
        <p:spPr>
          <a:xfrm>
            <a:off x="685800" y="1511300"/>
            <a:ext cx="685800" cy="508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03B38F-4EF8-96BA-3BC0-FCD013C985CE}"/>
              </a:ext>
            </a:extLst>
          </p:cNvPr>
          <p:cNvSpPr txBox="1"/>
          <p:nvPr/>
        </p:nvSpPr>
        <p:spPr>
          <a:xfrm>
            <a:off x="685800" y="64897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SKILL SWAP  |  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C839B-6DC7-9D33-51D2-70826FF5B1C5}"/>
              </a:ext>
            </a:extLst>
          </p:cNvPr>
          <p:cNvSpPr txBox="1"/>
          <p:nvPr/>
        </p:nvSpPr>
        <p:spPr>
          <a:xfrm>
            <a:off x="10998200" y="64897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>
                <a:solidFill>
                  <a:srgbClr val="ADBECD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C641D-C1B0-C9E9-8E21-4FD7BFD5098A}"/>
              </a:ext>
            </a:extLst>
          </p:cNvPr>
          <p:cNvSpPr txBox="1"/>
          <p:nvPr/>
        </p:nvSpPr>
        <p:spPr>
          <a:xfrm>
            <a:off x="889000" y="2019300"/>
            <a:ext cx="10414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F4F8FC"/>
                </a:solidFill>
                <a:latin typeface="Aptos" panose="020B0004020202020204" pitchFamily="34" charset="0"/>
              </a:rPr>
              <a:t>Skill Swap brings discovery, connection, scheduling and learning credits into one end-to-end experience.</a:t>
            </a:r>
            <a:endParaRPr lang="en-IN" sz="2700" b="1">
              <a:solidFill>
                <a:srgbClr val="F4F8FC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5AA966-F7AC-133C-5C91-D7E8DCC0CBE2}"/>
              </a:ext>
            </a:extLst>
          </p:cNvPr>
          <p:cNvSpPr/>
          <p:nvPr/>
        </p:nvSpPr>
        <p:spPr>
          <a:xfrm>
            <a:off x="889000" y="3632200"/>
            <a:ext cx="4953000" cy="19177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88EC43-A650-A581-98D5-5B0445EA4DA7}"/>
              </a:ext>
            </a:extLst>
          </p:cNvPr>
          <p:cNvSpPr/>
          <p:nvPr/>
        </p:nvSpPr>
        <p:spPr>
          <a:xfrm>
            <a:off x="1117600" y="3860800"/>
            <a:ext cx="63500" cy="14605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34133B-FC7E-4B4B-6782-7DD4C1AF5E7B}"/>
              </a:ext>
            </a:extLst>
          </p:cNvPr>
          <p:cNvSpPr txBox="1"/>
          <p:nvPr/>
        </p:nvSpPr>
        <p:spPr>
          <a:xfrm>
            <a:off x="1371600" y="3886200"/>
            <a:ext cx="4216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What the project delivers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878C36-771C-0126-8A89-5E29F8C3DBF1}"/>
              </a:ext>
            </a:extLst>
          </p:cNvPr>
          <p:cNvSpPr txBox="1"/>
          <p:nvPr/>
        </p:nvSpPr>
        <p:spPr>
          <a:xfrm>
            <a:off x="1371600" y="4368800"/>
            <a:ext cx="4216400" cy="6924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A working foundation for a peer-learning community, with operational tools for trust and administration.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CEB0EC-15B2-015C-6D53-6CE47968F668}"/>
              </a:ext>
            </a:extLst>
          </p:cNvPr>
          <p:cNvSpPr/>
          <p:nvPr/>
        </p:nvSpPr>
        <p:spPr>
          <a:xfrm>
            <a:off x="6350000" y="3632200"/>
            <a:ext cx="4953000" cy="1917700"/>
          </a:xfrm>
          <a:prstGeom prst="round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97F7B-9412-E25B-146F-DDD29348D571}"/>
              </a:ext>
            </a:extLst>
          </p:cNvPr>
          <p:cNvSpPr/>
          <p:nvPr/>
        </p:nvSpPr>
        <p:spPr>
          <a:xfrm>
            <a:off x="6578600" y="3860800"/>
            <a:ext cx="63500" cy="1460500"/>
          </a:xfrm>
          <a:prstGeom prst="rect">
            <a:avLst/>
          </a:prstGeom>
          <a:solidFill>
            <a:srgbClr val="FFA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50C53B-4385-F432-AE81-5AACEB730515}"/>
              </a:ext>
            </a:extLst>
          </p:cNvPr>
          <p:cNvSpPr txBox="1"/>
          <p:nvPr/>
        </p:nvSpPr>
        <p:spPr>
          <a:xfrm>
            <a:off x="6832600" y="3886200"/>
            <a:ext cx="4216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4F8FC"/>
                </a:solidFill>
                <a:latin typeface="Aptos" panose="020B0004020202020204" pitchFamily="34" charset="0"/>
              </a:rPr>
              <a:t>Honest boundary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A658A5-45B8-C76C-30D9-7B75ED6D4CDB}"/>
              </a:ext>
            </a:extLst>
          </p:cNvPr>
          <p:cNvSpPr txBox="1"/>
          <p:nvPr/>
        </p:nvSpPr>
        <p:spPr>
          <a:xfrm>
            <a:off x="6832600" y="4368800"/>
            <a:ext cx="4216400" cy="6924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ADBECD"/>
                </a:solidFill>
                <a:latin typeface="Aptos" panose="020B0004020202020204" pitchFamily="34" charset="0"/>
              </a:rPr>
              <a:t>A payment provider is not configured; subscription checkout remains a demo and does not grant paid access.</a:t>
            </a:r>
            <a:endParaRPr lang="en-IN" sz="1500">
              <a:solidFill>
                <a:srgbClr val="ADBEC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55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5D2105-ECF3-5417-3F10-1329BFD35063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BD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9E1C1-5005-88B5-9255-3BBAE3CBF203}"/>
              </a:ext>
            </a:extLst>
          </p:cNvPr>
          <p:cNvSpPr txBox="1"/>
          <p:nvPr/>
        </p:nvSpPr>
        <p:spPr>
          <a:xfrm>
            <a:off x="1143000" y="1371600"/>
            <a:ext cx="990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4BDCB9"/>
                </a:solidFill>
                <a:latin typeface="Aptos" panose="020B0004020202020204" pitchFamily="34" charset="0"/>
              </a:rPr>
              <a:t>SKILL 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3B9F0A-36E1-733F-0C51-3610DB55E2E4}"/>
              </a:ext>
            </a:extLst>
          </p:cNvPr>
          <p:cNvSpPr txBox="1"/>
          <p:nvPr/>
        </p:nvSpPr>
        <p:spPr>
          <a:xfrm>
            <a:off x="1143000" y="2184400"/>
            <a:ext cx="9906000" cy="8002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5200" b="1">
                <a:solidFill>
                  <a:srgbClr val="F4F8FC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BB3BC-B80A-8B32-0EB4-CC250533827C}"/>
              </a:ext>
            </a:extLst>
          </p:cNvPr>
          <p:cNvSpPr txBox="1"/>
          <p:nvPr/>
        </p:nvSpPr>
        <p:spPr>
          <a:xfrm>
            <a:off x="1905000" y="3556000"/>
            <a:ext cx="8382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2500">
                <a:solidFill>
                  <a:srgbClr val="ADBECD"/>
                </a:solidFill>
                <a:latin typeface="Aptos" panose="020B0004020202020204" pitchFamily="34" charset="0"/>
              </a:rPr>
              <a:t>Learn together. Grow together.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ACC025-96E3-A27D-86D8-0D01E8019F25}"/>
              </a:ext>
            </a:extLst>
          </p:cNvPr>
          <p:cNvSpPr/>
          <p:nvPr/>
        </p:nvSpPr>
        <p:spPr>
          <a:xfrm>
            <a:off x="4191000" y="4826000"/>
            <a:ext cx="3810000" cy="25400"/>
          </a:xfrm>
          <a:prstGeom prst="rect">
            <a:avLst/>
          </a:prstGeom>
          <a:solidFill>
            <a:srgbClr val="1729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04F4F-423D-CE58-26F4-A49643067159}"/>
              </a:ext>
            </a:extLst>
          </p:cNvPr>
          <p:cNvSpPr txBox="1"/>
          <p:nvPr/>
        </p:nvSpPr>
        <p:spPr>
          <a:xfrm>
            <a:off x="1905000" y="5207000"/>
            <a:ext cx="8382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400">
                <a:solidFill>
                  <a:srgbClr val="ADBECD"/>
                </a:solidFill>
                <a:latin typeface="Aptos" panose="020B0004020202020204" pitchFamily="34" charset="0"/>
              </a:rPr>
              <a:t>Reference website: talentsprint.com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73D98-2052-6A98-F665-484859C5E4C1}"/>
              </a:ext>
            </a:extLst>
          </p:cNvPr>
          <p:cNvSpPr txBox="1"/>
          <p:nvPr/>
        </p:nvSpPr>
        <p:spPr>
          <a:xfrm>
            <a:off x="10566400" y="62230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1000">
                <a:solidFill>
                  <a:srgbClr val="ADBECD"/>
                </a:solidFill>
                <a:latin typeface="Aptos" panose="020B0004020202020204" pitchFamily="34" charset="0"/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250467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On-screen Show (16:10)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navyadeepika gali</dc:creator>
  <cp:lastModifiedBy>navyadeepika gali</cp:lastModifiedBy>
  <cp:revision>1</cp:revision>
  <dcterms:created xsi:type="dcterms:W3CDTF">2026-10-24T09:56:22Z</dcterms:created>
  <dcterms:modified xsi:type="dcterms:W3CDTF">2026-10-24T09:56:22Z</dcterms:modified>
</cp:coreProperties>
</file>